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STHER" initials="E" lastIdx="2" clrIdx="0">
    <p:extLst>
      <p:ext uri="{19B8F6BF-5375-455C-9EA6-DF929625EA0E}">
        <p15:presenceInfo xmlns:p15="http://schemas.microsoft.com/office/powerpoint/2012/main" userId="ESTH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434" autoAdjust="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2-10T10:25:06.234" idx="1">
    <p:pos x="10" y="10"/>
    <p:text/>
    <p:extLst>
      <p:ext uri="{C676402C-5697-4E1C-873F-D02D1690AC5C}">
        <p15:threadingInfo xmlns:p15="http://schemas.microsoft.com/office/powerpoint/2012/main" timeZoneBias="480"/>
      </p:ext>
    </p:extLst>
  </p:cm>
  <p:cm authorId="1" dt="2025-12-10T10:25:06.364" idx="2">
    <p:pos x="106" y="106"/>
    <p:text/>
    <p:extLst>
      <p:ext uri="{C676402C-5697-4E1C-873F-D02D1690AC5C}">
        <p15:threadingInfo xmlns:p15="http://schemas.microsoft.com/office/powerpoint/2012/main" timeZoneBias="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82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35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3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3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39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1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0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81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21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60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64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1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38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01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63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9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4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5A73ACB-44BC-4987-9F1F-80FC5E772B2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9A6DB48-F7C3-443A-BDC7-BFB8BC174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6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4803" y="1159576"/>
            <a:ext cx="8825658" cy="2677648"/>
          </a:xfrm>
        </p:spPr>
        <p:txBody>
          <a:bodyPr anchor="ctr"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PERFECT PIE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404100" y="469900"/>
            <a:ext cx="4292600" cy="5905500"/>
            <a:chOff x="7671496" y="1257782"/>
            <a:chExt cx="3783206" cy="4825518"/>
          </a:xfrm>
        </p:grpSpPr>
        <p:sp>
          <p:nvSpPr>
            <p:cNvPr id="7" name="Rounded Rectangle 6"/>
            <p:cNvSpPr/>
            <p:nvPr/>
          </p:nvSpPr>
          <p:spPr>
            <a:xfrm>
              <a:off x="7671496" y="1257782"/>
              <a:ext cx="3783206" cy="4825518"/>
            </a:xfrm>
            <a:prstGeom prst="roundRect">
              <a:avLst/>
            </a:prstGeom>
            <a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19000" r="-19000"/>
              </a:stretch>
            </a:blip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Freeform 7"/>
            <p:cNvSpPr/>
            <p:nvPr/>
          </p:nvSpPr>
          <p:spPr>
            <a:xfrm>
              <a:off x="7822824" y="3187989"/>
              <a:ext cx="2913068" cy="2895310"/>
            </a:xfrm>
            <a:custGeom>
              <a:avLst/>
              <a:gdLst>
                <a:gd name="connsiteX0" fmla="*/ 0 w 2913068"/>
                <a:gd name="connsiteY0" fmla="*/ 0 h 2895310"/>
                <a:gd name="connsiteX1" fmla="*/ 2913068 w 2913068"/>
                <a:gd name="connsiteY1" fmla="*/ 0 h 2895310"/>
                <a:gd name="connsiteX2" fmla="*/ 2913068 w 2913068"/>
                <a:gd name="connsiteY2" fmla="*/ 2895310 h 2895310"/>
                <a:gd name="connsiteX3" fmla="*/ 0 w 2913068"/>
                <a:gd name="connsiteY3" fmla="*/ 2895310 h 2895310"/>
                <a:gd name="connsiteX4" fmla="*/ 0 w 2913068"/>
                <a:gd name="connsiteY4" fmla="*/ 0 h 2895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3068" h="2895310">
                  <a:moveTo>
                    <a:pt x="0" y="0"/>
                  </a:moveTo>
                  <a:lnTo>
                    <a:pt x="2913068" y="0"/>
                  </a:lnTo>
                  <a:lnTo>
                    <a:pt x="2913068" y="2895310"/>
                  </a:lnTo>
                  <a:lnTo>
                    <a:pt x="0" y="289531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5100" tIns="165100" rIns="165100" bIns="165100" numCol="1" spcCol="1270" anchor="b" anchorCtr="0">
              <a:noAutofit/>
            </a:bodyPr>
            <a:lstStyle/>
            <a:p>
              <a:pPr lvl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6500" kern="120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308100" y="3052394"/>
            <a:ext cx="44614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ANALYTICS-BACKED TACTICS TO FUEL PIZZA SALES EXPANSION</a:t>
            </a:r>
          </a:p>
          <a:p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15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repository holds an analytical report and interactive dashboard that breaks down a pizza store’s sales. It covers key revenues, category performance, orders over time and suggestable actions to boost sales and streamline operations.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86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278957"/>
              </p:ext>
            </p:extLst>
          </p:nvPr>
        </p:nvGraphicFramePr>
        <p:xfrm>
          <a:off x="710802" y="737665"/>
          <a:ext cx="956411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2057"/>
                <a:gridCol w="4782057"/>
              </a:tblGrid>
              <a:tr h="1309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571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FFFF00"/>
                          </a:solidFill>
                        </a:rPr>
                        <a:t>$817.86k</a:t>
                      </a:r>
                      <a:r>
                        <a:rPr lang="en-US" b="0" dirty="0" smtClean="0"/>
                        <a:t> revenue in management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FFFF00"/>
                          </a:solidFill>
                        </a:rPr>
                        <a:t>21.35k</a:t>
                      </a:r>
                      <a:r>
                        <a:rPr lang="en-US" b="0" dirty="0" smtClean="0"/>
                        <a:t> orders in 2015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FFFF00"/>
                          </a:solidFill>
                        </a:rPr>
                        <a:t>50k</a:t>
                      </a:r>
                      <a:r>
                        <a:rPr lang="en-US" b="0" dirty="0" smtClean="0"/>
                        <a:t> Pizzas sold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dirty="0" smtClean="0">
                          <a:solidFill>
                            <a:srgbClr val="FFFF00"/>
                          </a:solidFill>
                        </a:rPr>
                        <a:t>Low</a:t>
                      </a:r>
                      <a:r>
                        <a:rPr lang="en-US" b="0" dirty="0" smtClean="0"/>
                        <a:t> credit losses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746618" y="70427"/>
            <a:ext cx="5605083" cy="57872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32030" y="112645"/>
            <a:ext cx="5521657" cy="4479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 Presentation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738664"/>
              </p:ext>
            </p:extLst>
          </p:nvPr>
        </p:nvGraphicFramePr>
        <p:xfrm>
          <a:off x="710802" y="2185149"/>
          <a:ext cx="9564114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2057"/>
                <a:gridCol w="4782057"/>
              </a:tblGrid>
              <a:tr h="15368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  <a:p>
                      <a:endParaRPr lang="en-US" dirty="0"/>
                    </a:p>
                  </a:txBody>
                  <a:tcPr anchor="ctr">
                    <a:lnL w="571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Most expensive Pizza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Most ordered Pizza by category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Pizza ordered over time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Peak ordering hours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Total and average revenue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45" name="Group 44"/>
          <p:cNvGrpSpPr/>
          <p:nvPr/>
        </p:nvGrpSpPr>
        <p:grpSpPr>
          <a:xfrm>
            <a:off x="94575" y="2538259"/>
            <a:ext cx="1097280" cy="1097280"/>
            <a:chOff x="488065" y="3775876"/>
            <a:chExt cx="1097280" cy="1097280"/>
          </a:xfrm>
        </p:grpSpPr>
        <p:sp>
          <p:nvSpPr>
            <p:cNvPr id="44" name="Oval 43"/>
            <p:cNvSpPr/>
            <p:nvPr/>
          </p:nvSpPr>
          <p:spPr>
            <a:xfrm>
              <a:off x="488065" y="3775876"/>
              <a:ext cx="1097280" cy="109728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772968" y="4007767"/>
              <a:ext cx="567058" cy="633498"/>
              <a:chOff x="2034178" y="1221231"/>
              <a:chExt cx="8123643" cy="4415535"/>
            </a:xfrm>
            <a:solidFill>
              <a:schemeClr val="tx2">
                <a:lumMod val="75000"/>
              </a:schemeClr>
            </a:solidFill>
          </p:grpSpPr>
          <p:sp>
            <p:nvSpPr>
              <p:cNvPr id="35" name="Freeform 34"/>
              <p:cNvSpPr/>
              <p:nvPr/>
            </p:nvSpPr>
            <p:spPr>
              <a:xfrm>
                <a:off x="2034178" y="1221231"/>
                <a:ext cx="3365499" cy="1346199"/>
              </a:xfrm>
              <a:custGeom>
                <a:avLst/>
                <a:gdLst>
                  <a:gd name="connsiteX0" fmla="*/ 0 w 3365499"/>
                  <a:gd name="connsiteY0" fmla="*/ 0 h 1346199"/>
                  <a:gd name="connsiteX1" fmla="*/ 2692400 w 3365499"/>
                  <a:gd name="connsiteY1" fmla="*/ 0 h 1346199"/>
                  <a:gd name="connsiteX2" fmla="*/ 3365499 w 3365499"/>
                  <a:gd name="connsiteY2" fmla="*/ 673100 h 1346199"/>
                  <a:gd name="connsiteX3" fmla="*/ 2692400 w 3365499"/>
                  <a:gd name="connsiteY3" fmla="*/ 1346199 h 1346199"/>
                  <a:gd name="connsiteX4" fmla="*/ 0 w 3365499"/>
                  <a:gd name="connsiteY4" fmla="*/ 1346199 h 1346199"/>
                  <a:gd name="connsiteX5" fmla="*/ 673100 w 3365499"/>
                  <a:gd name="connsiteY5" fmla="*/ 673100 h 1346199"/>
                  <a:gd name="connsiteX6" fmla="*/ 0 w 3365499"/>
                  <a:gd name="connsiteY6" fmla="*/ 0 h 1346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65499" h="1346199">
                    <a:moveTo>
                      <a:pt x="0" y="0"/>
                    </a:moveTo>
                    <a:lnTo>
                      <a:pt x="2692400" y="0"/>
                    </a:lnTo>
                    <a:lnTo>
                      <a:pt x="3365499" y="673100"/>
                    </a:lnTo>
                    <a:lnTo>
                      <a:pt x="2692400" y="1346199"/>
                    </a:lnTo>
                    <a:lnTo>
                      <a:pt x="0" y="1346199"/>
                    </a:lnTo>
                    <a:lnTo>
                      <a:pt x="673100" y="67310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55650" tIns="41275" rIns="673099" bIns="41275" numCol="1" spcCol="1270" anchor="ctr" anchorCtr="0">
                <a:noAutofit/>
              </a:bodyPr>
              <a:lstStyle/>
              <a:p>
                <a:pPr lvl="0" algn="ctr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6500" kern="1200"/>
              </a:p>
            </p:txBody>
          </p:sp>
          <p:sp>
            <p:nvSpPr>
              <p:cNvPr id="36" name="Freeform 35"/>
              <p:cNvSpPr/>
              <p:nvPr/>
            </p:nvSpPr>
            <p:spPr>
              <a:xfrm>
                <a:off x="4962163" y="1335658"/>
                <a:ext cx="2793365" cy="1117346"/>
              </a:xfrm>
              <a:custGeom>
                <a:avLst/>
                <a:gdLst>
                  <a:gd name="connsiteX0" fmla="*/ 0 w 2793365"/>
                  <a:gd name="connsiteY0" fmla="*/ 0 h 1117346"/>
                  <a:gd name="connsiteX1" fmla="*/ 2234692 w 2793365"/>
                  <a:gd name="connsiteY1" fmla="*/ 0 h 1117346"/>
                  <a:gd name="connsiteX2" fmla="*/ 2793365 w 2793365"/>
                  <a:gd name="connsiteY2" fmla="*/ 558673 h 1117346"/>
                  <a:gd name="connsiteX3" fmla="*/ 2234692 w 2793365"/>
                  <a:gd name="connsiteY3" fmla="*/ 1117346 h 1117346"/>
                  <a:gd name="connsiteX4" fmla="*/ 0 w 2793365"/>
                  <a:gd name="connsiteY4" fmla="*/ 1117346 h 1117346"/>
                  <a:gd name="connsiteX5" fmla="*/ 558673 w 2793365"/>
                  <a:gd name="connsiteY5" fmla="*/ 558673 h 1117346"/>
                  <a:gd name="connsiteX6" fmla="*/ 0 w 2793365"/>
                  <a:gd name="connsiteY6" fmla="*/ 0 h 1117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3365" h="1117346">
                    <a:moveTo>
                      <a:pt x="0" y="0"/>
                    </a:moveTo>
                    <a:lnTo>
                      <a:pt x="2234692" y="0"/>
                    </a:lnTo>
                    <a:lnTo>
                      <a:pt x="2793365" y="558673"/>
                    </a:lnTo>
                    <a:lnTo>
                      <a:pt x="2234692" y="1117346"/>
                    </a:lnTo>
                    <a:lnTo>
                      <a:pt x="0" y="1117346"/>
                    </a:lnTo>
                    <a:lnTo>
                      <a:pt x="558673" y="55867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28523" tIns="34925" rIns="558673" bIns="34925" numCol="1" spcCol="1270" anchor="ctr" anchorCtr="0">
                <a:noAutofit/>
              </a:bodyPr>
              <a:lstStyle/>
              <a:p>
                <a:pPr lvl="0" algn="ctr" defTabSz="2444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5500" kern="1200"/>
              </a:p>
            </p:txBody>
          </p:sp>
          <p:sp>
            <p:nvSpPr>
              <p:cNvPr id="37" name="Freeform 36"/>
              <p:cNvSpPr/>
              <p:nvPr/>
            </p:nvSpPr>
            <p:spPr>
              <a:xfrm>
                <a:off x="7364456" y="1335658"/>
                <a:ext cx="2793365" cy="1117346"/>
              </a:xfrm>
              <a:custGeom>
                <a:avLst/>
                <a:gdLst>
                  <a:gd name="connsiteX0" fmla="*/ 0 w 2793365"/>
                  <a:gd name="connsiteY0" fmla="*/ 0 h 1117346"/>
                  <a:gd name="connsiteX1" fmla="*/ 2234692 w 2793365"/>
                  <a:gd name="connsiteY1" fmla="*/ 0 h 1117346"/>
                  <a:gd name="connsiteX2" fmla="*/ 2793365 w 2793365"/>
                  <a:gd name="connsiteY2" fmla="*/ 558673 h 1117346"/>
                  <a:gd name="connsiteX3" fmla="*/ 2234692 w 2793365"/>
                  <a:gd name="connsiteY3" fmla="*/ 1117346 h 1117346"/>
                  <a:gd name="connsiteX4" fmla="*/ 0 w 2793365"/>
                  <a:gd name="connsiteY4" fmla="*/ 1117346 h 1117346"/>
                  <a:gd name="connsiteX5" fmla="*/ 558673 w 2793365"/>
                  <a:gd name="connsiteY5" fmla="*/ 558673 h 1117346"/>
                  <a:gd name="connsiteX6" fmla="*/ 0 w 2793365"/>
                  <a:gd name="connsiteY6" fmla="*/ 0 h 1117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3365" h="1117346">
                    <a:moveTo>
                      <a:pt x="0" y="0"/>
                    </a:moveTo>
                    <a:lnTo>
                      <a:pt x="2234692" y="0"/>
                    </a:lnTo>
                    <a:lnTo>
                      <a:pt x="2793365" y="558673"/>
                    </a:lnTo>
                    <a:lnTo>
                      <a:pt x="2234692" y="1117346"/>
                    </a:lnTo>
                    <a:lnTo>
                      <a:pt x="0" y="1117346"/>
                    </a:lnTo>
                    <a:lnTo>
                      <a:pt x="558673" y="55867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28523" tIns="34925" rIns="558673" bIns="34925" numCol="1" spcCol="1270" anchor="ctr" anchorCtr="0">
                <a:noAutofit/>
              </a:bodyPr>
              <a:lstStyle/>
              <a:p>
                <a:pPr lvl="0" algn="ctr" defTabSz="2444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5500" kern="1200"/>
              </a:p>
            </p:txBody>
          </p:sp>
          <p:sp>
            <p:nvSpPr>
              <p:cNvPr id="38" name="Freeform 37"/>
              <p:cNvSpPr/>
              <p:nvPr/>
            </p:nvSpPr>
            <p:spPr>
              <a:xfrm>
                <a:off x="2034178" y="2755899"/>
                <a:ext cx="3365499" cy="1346199"/>
              </a:xfrm>
              <a:custGeom>
                <a:avLst/>
                <a:gdLst>
                  <a:gd name="connsiteX0" fmla="*/ 0 w 3365499"/>
                  <a:gd name="connsiteY0" fmla="*/ 0 h 1346199"/>
                  <a:gd name="connsiteX1" fmla="*/ 2692400 w 3365499"/>
                  <a:gd name="connsiteY1" fmla="*/ 0 h 1346199"/>
                  <a:gd name="connsiteX2" fmla="*/ 3365499 w 3365499"/>
                  <a:gd name="connsiteY2" fmla="*/ 673100 h 1346199"/>
                  <a:gd name="connsiteX3" fmla="*/ 2692400 w 3365499"/>
                  <a:gd name="connsiteY3" fmla="*/ 1346199 h 1346199"/>
                  <a:gd name="connsiteX4" fmla="*/ 0 w 3365499"/>
                  <a:gd name="connsiteY4" fmla="*/ 1346199 h 1346199"/>
                  <a:gd name="connsiteX5" fmla="*/ 673100 w 3365499"/>
                  <a:gd name="connsiteY5" fmla="*/ 673100 h 1346199"/>
                  <a:gd name="connsiteX6" fmla="*/ 0 w 3365499"/>
                  <a:gd name="connsiteY6" fmla="*/ 0 h 1346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65499" h="1346199">
                    <a:moveTo>
                      <a:pt x="0" y="0"/>
                    </a:moveTo>
                    <a:lnTo>
                      <a:pt x="2692400" y="0"/>
                    </a:lnTo>
                    <a:lnTo>
                      <a:pt x="3365499" y="673100"/>
                    </a:lnTo>
                    <a:lnTo>
                      <a:pt x="2692400" y="1346199"/>
                    </a:lnTo>
                    <a:lnTo>
                      <a:pt x="0" y="1346199"/>
                    </a:lnTo>
                    <a:lnTo>
                      <a:pt x="673100" y="67310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55650" tIns="41275" rIns="673099" bIns="41275" numCol="1" spcCol="1270" anchor="ctr" anchorCtr="0">
                <a:noAutofit/>
              </a:bodyPr>
              <a:lstStyle/>
              <a:p>
                <a:pPr lvl="0" algn="ctr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6500" kern="1200"/>
              </a:p>
            </p:txBody>
          </p:sp>
          <p:sp>
            <p:nvSpPr>
              <p:cNvPr id="39" name="Freeform 38"/>
              <p:cNvSpPr/>
              <p:nvPr/>
            </p:nvSpPr>
            <p:spPr>
              <a:xfrm>
                <a:off x="4962163" y="2870326"/>
                <a:ext cx="2793365" cy="1117346"/>
              </a:xfrm>
              <a:custGeom>
                <a:avLst/>
                <a:gdLst>
                  <a:gd name="connsiteX0" fmla="*/ 0 w 2793365"/>
                  <a:gd name="connsiteY0" fmla="*/ 0 h 1117346"/>
                  <a:gd name="connsiteX1" fmla="*/ 2234692 w 2793365"/>
                  <a:gd name="connsiteY1" fmla="*/ 0 h 1117346"/>
                  <a:gd name="connsiteX2" fmla="*/ 2793365 w 2793365"/>
                  <a:gd name="connsiteY2" fmla="*/ 558673 h 1117346"/>
                  <a:gd name="connsiteX3" fmla="*/ 2234692 w 2793365"/>
                  <a:gd name="connsiteY3" fmla="*/ 1117346 h 1117346"/>
                  <a:gd name="connsiteX4" fmla="*/ 0 w 2793365"/>
                  <a:gd name="connsiteY4" fmla="*/ 1117346 h 1117346"/>
                  <a:gd name="connsiteX5" fmla="*/ 558673 w 2793365"/>
                  <a:gd name="connsiteY5" fmla="*/ 558673 h 1117346"/>
                  <a:gd name="connsiteX6" fmla="*/ 0 w 2793365"/>
                  <a:gd name="connsiteY6" fmla="*/ 0 h 1117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3365" h="1117346">
                    <a:moveTo>
                      <a:pt x="0" y="0"/>
                    </a:moveTo>
                    <a:lnTo>
                      <a:pt x="2234692" y="0"/>
                    </a:lnTo>
                    <a:lnTo>
                      <a:pt x="2793365" y="558673"/>
                    </a:lnTo>
                    <a:lnTo>
                      <a:pt x="2234692" y="1117346"/>
                    </a:lnTo>
                    <a:lnTo>
                      <a:pt x="0" y="1117346"/>
                    </a:lnTo>
                    <a:lnTo>
                      <a:pt x="558673" y="55867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28523" tIns="34925" rIns="558673" bIns="34925" numCol="1" spcCol="1270" anchor="ctr" anchorCtr="0">
                <a:noAutofit/>
              </a:bodyPr>
              <a:lstStyle/>
              <a:p>
                <a:pPr lvl="0" algn="ctr" defTabSz="2444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5500" kern="1200"/>
              </a:p>
            </p:txBody>
          </p:sp>
          <p:sp>
            <p:nvSpPr>
              <p:cNvPr id="40" name="Freeform 39"/>
              <p:cNvSpPr/>
              <p:nvPr/>
            </p:nvSpPr>
            <p:spPr>
              <a:xfrm>
                <a:off x="7364456" y="2870326"/>
                <a:ext cx="2793365" cy="1117346"/>
              </a:xfrm>
              <a:custGeom>
                <a:avLst/>
                <a:gdLst>
                  <a:gd name="connsiteX0" fmla="*/ 0 w 2793365"/>
                  <a:gd name="connsiteY0" fmla="*/ 0 h 1117346"/>
                  <a:gd name="connsiteX1" fmla="*/ 2234692 w 2793365"/>
                  <a:gd name="connsiteY1" fmla="*/ 0 h 1117346"/>
                  <a:gd name="connsiteX2" fmla="*/ 2793365 w 2793365"/>
                  <a:gd name="connsiteY2" fmla="*/ 558673 h 1117346"/>
                  <a:gd name="connsiteX3" fmla="*/ 2234692 w 2793365"/>
                  <a:gd name="connsiteY3" fmla="*/ 1117346 h 1117346"/>
                  <a:gd name="connsiteX4" fmla="*/ 0 w 2793365"/>
                  <a:gd name="connsiteY4" fmla="*/ 1117346 h 1117346"/>
                  <a:gd name="connsiteX5" fmla="*/ 558673 w 2793365"/>
                  <a:gd name="connsiteY5" fmla="*/ 558673 h 1117346"/>
                  <a:gd name="connsiteX6" fmla="*/ 0 w 2793365"/>
                  <a:gd name="connsiteY6" fmla="*/ 0 h 1117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3365" h="1117346">
                    <a:moveTo>
                      <a:pt x="0" y="0"/>
                    </a:moveTo>
                    <a:lnTo>
                      <a:pt x="2234692" y="0"/>
                    </a:lnTo>
                    <a:lnTo>
                      <a:pt x="2793365" y="558673"/>
                    </a:lnTo>
                    <a:lnTo>
                      <a:pt x="2234692" y="1117346"/>
                    </a:lnTo>
                    <a:lnTo>
                      <a:pt x="0" y="1117346"/>
                    </a:lnTo>
                    <a:lnTo>
                      <a:pt x="558673" y="55867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28523" tIns="34925" rIns="558673" bIns="34925" numCol="1" spcCol="1270" anchor="ctr" anchorCtr="0">
                <a:noAutofit/>
              </a:bodyPr>
              <a:lstStyle/>
              <a:p>
                <a:pPr lvl="0" algn="ctr" defTabSz="2444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5500" kern="1200"/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2034178" y="4290567"/>
                <a:ext cx="3365499" cy="1346199"/>
              </a:xfrm>
              <a:custGeom>
                <a:avLst/>
                <a:gdLst>
                  <a:gd name="connsiteX0" fmla="*/ 0 w 3365499"/>
                  <a:gd name="connsiteY0" fmla="*/ 0 h 1346199"/>
                  <a:gd name="connsiteX1" fmla="*/ 2692400 w 3365499"/>
                  <a:gd name="connsiteY1" fmla="*/ 0 h 1346199"/>
                  <a:gd name="connsiteX2" fmla="*/ 3365499 w 3365499"/>
                  <a:gd name="connsiteY2" fmla="*/ 673100 h 1346199"/>
                  <a:gd name="connsiteX3" fmla="*/ 2692400 w 3365499"/>
                  <a:gd name="connsiteY3" fmla="*/ 1346199 h 1346199"/>
                  <a:gd name="connsiteX4" fmla="*/ 0 w 3365499"/>
                  <a:gd name="connsiteY4" fmla="*/ 1346199 h 1346199"/>
                  <a:gd name="connsiteX5" fmla="*/ 673100 w 3365499"/>
                  <a:gd name="connsiteY5" fmla="*/ 673100 h 1346199"/>
                  <a:gd name="connsiteX6" fmla="*/ 0 w 3365499"/>
                  <a:gd name="connsiteY6" fmla="*/ 0 h 1346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65499" h="1346199">
                    <a:moveTo>
                      <a:pt x="0" y="0"/>
                    </a:moveTo>
                    <a:lnTo>
                      <a:pt x="2692400" y="0"/>
                    </a:lnTo>
                    <a:lnTo>
                      <a:pt x="3365499" y="673100"/>
                    </a:lnTo>
                    <a:lnTo>
                      <a:pt x="2692400" y="1346199"/>
                    </a:lnTo>
                    <a:lnTo>
                      <a:pt x="0" y="1346199"/>
                    </a:lnTo>
                    <a:lnTo>
                      <a:pt x="673100" y="67310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55650" tIns="41275" rIns="673099" bIns="41275" numCol="1" spcCol="1270" anchor="ctr" anchorCtr="0">
                <a:noAutofit/>
              </a:bodyPr>
              <a:lstStyle/>
              <a:p>
                <a:pPr lvl="0" algn="ctr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6500" kern="1200"/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4962163" y="4404994"/>
                <a:ext cx="2793365" cy="1117346"/>
              </a:xfrm>
              <a:custGeom>
                <a:avLst/>
                <a:gdLst>
                  <a:gd name="connsiteX0" fmla="*/ 0 w 2793365"/>
                  <a:gd name="connsiteY0" fmla="*/ 0 h 1117346"/>
                  <a:gd name="connsiteX1" fmla="*/ 2234692 w 2793365"/>
                  <a:gd name="connsiteY1" fmla="*/ 0 h 1117346"/>
                  <a:gd name="connsiteX2" fmla="*/ 2793365 w 2793365"/>
                  <a:gd name="connsiteY2" fmla="*/ 558673 h 1117346"/>
                  <a:gd name="connsiteX3" fmla="*/ 2234692 w 2793365"/>
                  <a:gd name="connsiteY3" fmla="*/ 1117346 h 1117346"/>
                  <a:gd name="connsiteX4" fmla="*/ 0 w 2793365"/>
                  <a:gd name="connsiteY4" fmla="*/ 1117346 h 1117346"/>
                  <a:gd name="connsiteX5" fmla="*/ 558673 w 2793365"/>
                  <a:gd name="connsiteY5" fmla="*/ 558673 h 1117346"/>
                  <a:gd name="connsiteX6" fmla="*/ 0 w 2793365"/>
                  <a:gd name="connsiteY6" fmla="*/ 0 h 1117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3365" h="1117346">
                    <a:moveTo>
                      <a:pt x="0" y="0"/>
                    </a:moveTo>
                    <a:lnTo>
                      <a:pt x="2234692" y="0"/>
                    </a:lnTo>
                    <a:lnTo>
                      <a:pt x="2793365" y="558673"/>
                    </a:lnTo>
                    <a:lnTo>
                      <a:pt x="2234692" y="1117346"/>
                    </a:lnTo>
                    <a:lnTo>
                      <a:pt x="0" y="1117346"/>
                    </a:lnTo>
                    <a:lnTo>
                      <a:pt x="558673" y="55867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28523" tIns="34925" rIns="558673" bIns="34925" numCol="1" spcCol="1270" anchor="ctr" anchorCtr="0">
                <a:noAutofit/>
              </a:bodyPr>
              <a:lstStyle/>
              <a:p>
                <a:pPr lvl="0" algn="ctr" defTabSz="2444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5500" kern="1200"/>
              </a:p>
            </p:txBody>
          </p:sp>
          <p:sp>
            <p:nvSpPr>
              <p:cNvPr id="43" name="Freeform 42"/>
              <p:cNvSpPr/>
              <p:nvPr/>
            </p:nvSpPr>
            <p:spPr>
              <a:xfrm>
                <a:off x="7364456" y="4404994"/>
                <a:ext cx="2793365" cy="1117346"/>
              </a:xfrm>
              <a:custGeom>
                <a:avLst/>
                <a:gdLst>
                  <a:gd name="connsiteX0" fmla="*/ 0 w 2793365"/>
                  <a:gd name="connsiteY0" fmla="*/ 0 h 1117346"/>
                  <a:gd name="connsiteX1" fmla="*/ 2234692 w 2793365"/>
                  <a:gd name="connsiteY1" fmla="*/ 0 h 1117346"/>
                  <a:gd name="connsiteX2" fmla="*/ 2793365 w 2793365"/>
                  <a:gd name="connsiteY2" fmla="*/ 558673 h 1117346"/>
                  <a:gd name="connsiteX3" fmla="*/ 2234692 w 2793365"/>
                  <a:gd name="connsiteY3" fmla="*/ 1117346 h 1117346"/>
                  <a:gd name="connsiteX4" fmla="*/ 0 w 2793365"/>
                  <a:gd name="connsiteY4" fmla="*/ 1117346 h 1117346"/>
                  <a:gd name="connsiteX5" fmla="*/ 558673 w 2793365"/>
                  <a:gd name="connsiteY5" fmla="*/ 558673 h 1117346"/>
                  <a:gd name="connsiteX6" fmla="*/ 0 w 2793365"/>
                  <a:gd name="connsiteY6" fmla="*/ 0 h 1117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93365" h="1117346">
                    <a:moveTo>
                      <a:pt x="0" y="0"/>
                    </a:moveTo>
                    <a:lnTo>
                      <a:pt x="2234692" y="0"/>
                    </a:lnTo>
                    <a:lnTo>
                      <a:pt x="2793365" y="558673"/>
                    </a:lnTo>
                    <a:lnTo>
                      <a:pt x="2234692" y="1117346"/>
                    </a:lnTo>
                    <a:lnTo>
                      <a:pt x="0" y="1117346"/>
                    </a:lnTo>
                    <a:lnTo>
                      <a:pt x="558673" y="55867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28575"/>
            </p:spPr>
            <p:style>
              <a:lnRef idx="2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28523" tIns="34925" rIns="558673" bIns="34925" numCol="1" spcCol="1270" anchor="ctr" anchorCtr="0">
                <a:noAutofit/>
              </a:bodyPr>
              <a:lstStyle/>
              <a:p>
                <a:pPr lvl="0" algn="ctr" defTabSz="2444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5500" kern="1200"/>
              </a:p>
            </p:txBody>
          </p:sp>
        </p:grpSp>
      </p:grp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817605"/>
              </p:ext>
            </p:extLst>
          </p:nvPr>
        </p:nvGraphicFramePr>
        <p:xfrm>
          <a:off x="710802" y="3971844"/>
          <a:ext cx="956411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2057"/>
                <a:gridCol w="4782057"/>
              </a:tblGrid>
              <a:tr h="2768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</a:t>
                      </a:r>
                    </a:p>
                    <a:p>
                      <a:endParaRPr lang="en-US" dirty="0"/>
                    </a:p>
                  </a:txBody>
                  <a:tcPr anchor="ctr">
                    <a:lnL w="571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Grow more revenue under management from </a:t>
                      </a:r>
                      <a:r>
                        <a:rPr lang="en-US" dirty="0" smtClean="0">
                          <a:solidFill>
                            <a:srgbClr val="FFFF00"/>
                          </a:solidFill>
                        </a:rPr>
                        <a:t>$817.86k </a:t>
                      </a:r>
                      <a:r>
                        <a:rPr lang="en-US" dirty="0" smtClean="0"/>
                        <a:t>to </a:t>
                      </a:r>
                      <a:r>
                        <a:rPr lang="en-US" dirty="0" smtClean="0">
                          <a:solidFill>
                            <a:srgbClr val="FFFF00"/>
                          </a:solidFill>
                        </a:rPr>
                        <a:t>$2M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 smtClean="0"/>
                        <a:t>     over a year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Boost profile and raise visibility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Highlight and push the most popular pizzas with stronger promotional efforts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/>
                        <a:t>Schedule more staff to the peak period to boost efficiency and cut down on waiting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32" name="Group 31"/>
          <p:cNvGrpSpPr/>
          <p:nvPr/>
        </p:nvGrpSpPr>
        <p:grpSpPr>
          <a:xfrm>
            <a:off x="31072" y="960471"/>
            <a:ext cx="1097280" cy="1097280"/>
            <a:chOff x="555764" y="1490962"/>
            <a:chExt cx="1097280" cy="1097280"/>
          </a:xfrm>
          <a:solidFill>
            <a:schemeClr val="accent1">
              <a:lumMod val="75000"/>
            </a:schemeClr>
          </a:solidFill>
        </p:grpSpPr>
        <p:sp>
          <p:nvSpPr>
            <p:cNvPr id="8" name="Oval 7"/>
            <p:cNvSpPr/>
            <p:nvPr/>
          </p:nvSpPr>
          <p:spPr>
            <a:xfrm>
              <a:off x="555764" y="1490962"/>
              <a:ext cx="1097280" cy="1097280"/>
            </a:xfrm>
            <a:prstGeom prst="ellipse">
              <a:avLst/>
            </a:prstGeom>
            <a:grp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719296" y="1719844"/>
              <a:ext cx="710260" cy="598354"/>
              <a:chOff x="3389657" y="722656"/>
              <a:chExt cx="5412685" cy="5412685"/>
            </a:xfrm>
            <a:grpFill/>
          </p:grpSpPr>
          <p:sp>
            <p:nvSpPr>
              <p:cNvPr id="23" name="Freeform 22"/>
              <p:cNvSpPr/>
              <p:nvPr/>
            </p:nvSpPr>
            <p:spPr>
              <a:xfrm>
                <a:off x="5383609" y="2716608"/>
                <a:ext cx="1424781" cy="1424781"/>
              </a:xfrm>
              <a:custGeom>
                <a:avLst/>
                <a:gdLst>
                  <a:gd name="connsiteX0" fmla="*/ 0 w 1424781"/>
                  <a:gd name="connsiteY0" fmla="*/ 712391 h 1424781"/>
                  <a:gd name="connsiteX1" fmla="*/ 712391 w 1424781"/>
                  <a:gd name="connsiteY1" fmla="*/ 0 h 1424781"/>
                  <a:gd name="connsiteX2" fmla="*/ 1424782 w 1424781"/>
                  <a:gd name="connsiteY2" fmla="*/ 712391 h 1424781"/>
                  <a:gd name="connsiteX3" fmla="*/ 712391 w 1424781"/>
                  <a:gd name="connsiteY3" fmla="*/ 1424782 h 1424781"/>
                  <a:gd name="connsiteX4" fmla="*/ 0 w 1424781"/>
                  <a:gd name="connsiteY4" fmla="*/ 712391 h 142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781" h="1424781">
                    <a:moveTo>
                      <a:pt x="0" y="712391"/>
                    </a:moveTo>
                    <a:cubicBezTo>
                      <a:pt x="0" y="318948"/>
                      <a:pt x="318948" y="0"/>
                      <a:pt x="712391" y="0"/>
                    </a:cubicBezTo>
                    <a:cubicBezTo>
                      <a:pt x="1105834" y="0"/>
                      <a:pt x="1424782" y="318948"/>
                      <a:pt x="1424782" y="712391"/>
                    </a:cubicBezTo>
                    <a:cubicBezTo>
                      <a:pt x="1424782" y="1105834"/>
                      <a:pt x="1105834" y="1424782"/>
                      <a:pt x="712391" y="1424782"/>
                    </a:cubicBezTo>
                    <a:cubicBezTo>
                      <a:pt x="318948" y="1424782"/>
                      <a:pt x="0" y="1105834"/>
                      <a:pt x="0" y="712391"/>
                    </a:cubicBez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9294" tIns="249294" rIns="249294" bIns="249294" numCol="1" spcCol="1270" anchor="ctr" anchorCtr="0">
                <a:noAutofit/>
              </a:bodyPr>
              <a:lstStyle/>
              <a:p>
                <a:pPr lvl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kern="1200"/>
              </a:p>
            </p:txBody>
          </p:sp>
          <p:sp>
            <p:nvSpPr>
              <p:cNvPr id="24" name="Freeform 23"/>
              <p:cNvSpPr/>
              <p:nvPr/>
            </p:nvSpPr>
            <p:spPr>
              <a:xfrm rot="16200000">
                <a:off x="5945169" y="2198348"/>
                <a:ext cx="301660" cy="484425"/>
              </a:xfrm>
              <a:custGeom>
                <a:avLst/>
                <a:gdLst>
                  <a:gd name="connsiteX0" fmla="*/ 0 w 301660"/>
                  <a:gd name="connsiteY0" fmla="*/ 96885 h 484425"/>
                  <a:gd name="connsiteX1" fmla="*/ 150830 w 301660"/>
                  <a:gd name="connsiteY1" fmla="*/ 96885 h 484425"/>
                  <a:gd name="connsiteX2" fmla="*/ 150830 w 301660"/>
                  <a:gd name="connsiteY2" fmla="*/ 0 h 484425"/>
                  <a:gd name="connsiteX3" fmla="*/ 301660 w 301660"/>
                  <a:gd name="connsiteY3" fmla="*/ 242213 h 484425"/>
                  <a:gd name="connsiteX4" fmla="*/ 150830 w 301660"/>
                  <a:gd name="connsiteY4" fmla="*/ 484425 h 484425"/>
                  <a:gd name="connsiteX5" fmla="*/ 150830 w 301660"/>
                  <a:gd name="connsiteY5" fmla="*/ 387540 h 484425"/>
                  <a:gd name="connsiteX6" fmla="*/ 0 w 301660"/>
                  <a:gd name="connsiteY6" fmla="*/ 387540 h 484425"/>
                  <a:gd name="connsiteX7" fmla="*/ 0 w 301660"/>
                  <a:gd name="connsiteY7" fmla="*/ 96885 h 48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1660" h="484425">
                    <a:moveTo>
                      <a:pt x="0" y="96885"/>
                    </a:moveTo>
                    <a:lnTo>
                      <a:pt x="150830" y="96885"/>
                    </a:lnTo>
                    <a:lnTo>
                      <a:pt x="150830" y="0"/>
                    </a:lnTo>
                    <a:lnTo>
                      <a:pt x="301660" y="242213"/>
                    </a:lnTo>
                    <a:lnTo>
                      <a:pt x="150830" y="484425"/>
                    </a:lnTo>
                    <a:lnTo>
                      <a:pt x="150830" y="387540"/>
                    </a:lnTo>
                    <a:lnTo>
                      <a:pt x="0" y="387540"/>
                    </a:lnTo>
                    <a:lnTo>
                      <a:pt x="0" y="96885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-1" tIns="96884" rIns="90498" bIns="96885" numCol="1" spcCol="1270" anchor="ctr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000" kern="1200"/>
              </a:p>
            </p:txBody>
          </p:sp>
          <p:sp>
            <p:nvSpPr>
              <p:cNvPr id="25" name="Freeform 24"/>
              <p:cNvSpPr/>
              <p:nvPr/>
            </p:nvSpPr>
            <p:spPr>
              <a:xfrm>
                <a:off x="5383609" y="722656"/>
                <a:ext cx="1424781" cy="1424781"/>
              </a:xfrm>
              <a:custGeom>
                <a:avLst/>
                <a:gdLst>
                  <a:gd name="connsiteX0" fmla="*/ 0 w 1424781"/>
                  <a:gd name="connsiteY0" fmla="*/ 712391 h 1424781"/>
                  <a:gd name="connsiteX1" fmla="*/ 712391 w 1424781"/>
                  <a:gd name="connsiteY1" fmla="*/ 0 h 1424781"/>
                  <a:gd name="connsiteX2" fmla="*/ 1424782 w 1424781"/>
                  <a:gd name="connsiteY2" fmla="*/ 712391 h 1424781"/>
                  <a:gd name="connsiteX3" fmla="*/ 712391 w 1424781"/>
                  <a:gd name="connsiteY3" fmla="*/ 1424782 h 1424781"/>
                  <a:gd name="connsiteX4" fmla="*/ 0 w 1424781"/>
                  <a:gd name="connsiteY4" fmla="*/ 712391 h 142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781" h="1424781">
                    <a:moveTo>
                      <a:pt x="0" y="712391"/>
                    </a:moveTo>
                    <a:cubicBezTo>
                      <a:pt x="0" y="318948"/>
                      <a:pt x="318948" y="0"/>
                      <a:pt x="712391" y="0"/>
                    </a:cubicBezTo>
                    <a:cubicBezTo>
                      <a:pt x="1105834" y="0"/>
                      <a:pt x="1424782" y="318948"/>
                      <a:pt x="1424782" y="712391"/>
                    </a:cubicBezTo>
                    <a:cubicBezTo>
                      <a:pt x="1424782" y="1105834"/>
                      <a:pt x="1105834" y="1424782"/>
                      <a:pt x="712391" y="1424782"/>
                    </a:cubicBezTo>
                    <a:cubicBezTo>
                      <a:pt x="318948" y="1424782"/>
                      <a:pt x="0" y="1105834"/>
                      <a:pt x="0" y="712391"/>
                    </a:cubicBez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9294" tIns="249294" rIns="249294" bIns="249294" numCol="1" spcCol="1270" anchor="ctr" anchorCtr="0">
                <a:noAutofit/>
              </a:bodyPr>
              <a:lstStyle/>
              <a:p>
                <a:pPr lvl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kern="1200"/>
              </a:p>
            </p:txBody>
          </p:sp>
          <p:sp>
            <p:nvSpPr>
              <p:cNvPr id="26" name="Freeform 25"/>
              <p:cNvSpPr/>
              <p:nvPr/>
            </p:nvSpPr>
            <p:spPr>
              <a:xfrm>
                <a:off x="6933608" y="3186786"/>
                <a:ext cx="301660" cy="484425"/>
              </a:xfrm>
              <a:custGeom>
                <a:avLst/>
                <a:gdLst>
                  <a:gd name="connsiteX0" fmla="*/ 0 w 301660"/>
                  <a:gd name="connsiteY0" fmla="*/ 96885 h 484425"/>
                  <a:gd name="connsiteX1" fmla="*/ 150830 w 301660"/>
                  <a:gd name="connsiteY1" fmla="*/ 96885 h 484425"/>
                  <a:gd name="connsiteX2" fmla="*/ 150830 w 301660"/>
                  <a:gd name="connsiteY2" fmla="*/ 0 h 484425"/>
                  <a:gd name="connsiteX3" fmla="*/ 301660 w 301660"/>
                  <a:gd name="connsiteY3" fmla="*/ 242213 h 484425"/>
                  <a:gd name="connsiteX4" fmla="*/ 150830 w 301660"/>
                  <a:gd name="connsiteY4" fmla="*/ 484425 h 484425"/>
                  <a:gd name="connsiteX5" fmla="*/ 150830 w 301660"/>
                  <a:gd name="connsiteY5" fmla="*/ 387540 h 484425"/>
                  <a:gd name="connsiteX6" fmla="*/ 0 w 301660"/>
                  <a:gd name="connsiteY6" fmla="*/ 387540 h 484425"/>
                  <a:gd name="connsiteX7" fmla="*/ 0 w 301660"/>
                  <a:gd name="connsiteY7" fmla="*/ 96885 h 48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1660" h="484425">
                    <a:moveTo>
                      <a:pt x="0" y="96885"/>
                    </a:moveTo>
                    <a:lnTo>
                      <a:pt x="150830" y="96885"/>
                    </a:lnTo>
                    <a:lnTo>
                      <a:pt x="150830" y="0"/>
                    </a:lnTo>
                    <a:lnTo>
                      <a:pt x="301660" y="242213"/>
                    </a:lnTo>
                    <a:lnTo>
                      <a:pt x="150830" y="484425"/>
                    </a:lnTo>
                    <a:lnTo>
                      <a:pt x="150830" y="387540"/>
                    </a:lnTo>
                    <a:lnTo>
                      <a:pt x="0" y="387540"/>
                    </a:lnTo>
                    <a:lnTo>
                      <a:pt x="0" y="96885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0" tIns="96885" rIns="90498" bIns="96885" numCol="1" spcCol="1270" anchor="ctr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000" kern="1200"/>
              </a:p>
            </p:txBody>
          </p:sp>
          <p:sp>
            <p:nvSpPr>
              <p:cNvPr id="27" name="Freeform 26"/>
              <p:cNvSpPr/>
              <p:nvPr/>
            </p:nvSpPr>
            <p:spPr>
              <a:xfrm>
                <a:off x="7377561" y="2716608"/>
                <a:ext cx="1424781" cy="1424781"/>
              </a:xfrm>
              <a:custGeom>
                <a:avLst/>
                <a:gdLst>
                  <a:gd name="connsiteX0" fmla="*/ 0 w 1424781"/>
                  <a:gd name="connsiteY0" fmla="*/ 712391 h 1424781"/>
                  <a:gd name="connsiteX1" fmla="*/ 712391 w 1424781"/>
                  <a:gd name="connsiteY1" fmla="*/ 0 h 1424781"/>
                  <a:gd name="connsiteX2" fmla="*/ 1424782 w 1424781"/>
                  <a:gd name="connsiteY2" fmla="*/ 712391 h 1424781"/>
                  <a:gd name="connsiteX3" fmla="*/ 712391 w 1424781"/>
                  <a:gd name="connsiteY3" fmla="*/ 1424782 h 1424781"/>
                  <a:gd name="connsiteX4" fmla="*/ 0 w 1424781"/>
                  <a:gd name="connsiteY4" fmla="*/ 712391 h 142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781" h="1424781">
                    <a:moveTo>
                      <a:pt x="0" y="712391"/>
                    </a:moveTo>
                    <a:cubicBezTo>
                      <a:pt x="0" y="318948"/>
                      <a:pt x="318948" y="0"/>
                      <a:pt x="712391" y="0"/>
                    </a:cubicBezTo>
                    <a:cubicBezTo>
                      <a:pt x="1105834" y="0"/>
                      <a:pt x="1424782" y="318948"/>
                      <a:pt x="1424782" y="712391"/>
                    </a:cubicBezTo>
                    <a:cubicBezTo>
                      <a:pt x="1424782" y="1105834"/>
                      <a:pt x="1105834" y="1424782"/>
                      <a:pt x="712391" y="1424782"/>
                    </a:cubicBezTo>
                    <a:cubicBezTo>
                      <a:pt x="318948" y="1424782"/>
                      <a:pt x="0" y="1105834"/>
                      <a:pt x="0" y="712391"/>
                    </a:cubicBez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9294" tIns="249294" rIns="249294" bIns="249294" numCol="1" spcCol="1270" anchor="ctr" anchorCtr="0">
                <a:noAutofit/>
              </a:bodyPr>
              <a:lstStyle/>
              <a:p>
                <a:pPr lvl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kern="1200"/>
              </a:p>
            </p:txBody>
          </p:sp>
          <p:sp>
            <p:nvSpPr>
              <p:cNvPr id="28" name="Freeform 27"/>
              <p:cNvSpPr/>
              <p:nvPr/>
            </p:nvSpPr>
            <p:spPr>
              <a:xfrm rot="5400000">
                <a:off x="5945169" y="4175225"/>
                <a:ext cx="301660" cy="484425"/>
              </a:xfrm>
              <a:custGeom>
                <a:avLst/>
                <a:gdLst>
                  <a:gd name="connsiteX0" fmla="*/ 0 w 301660"/>
                  <a:gd name="connsiteY0" fmla="*/ 96885 h 484425"/>
                  <a:gd name="connsiteX1" fmla="*/ 150830 w 301660"/>
                  <a:gd name="connsiteY1" fmla="*/ 96885 h 484425"/>
                  <a:gd name="connsiteX2" fmla="*/ 150830 w 301660"/>
                  <a:gd name="connsiteY2" fmla="*/ 0 h 484425"/>
                  <a:gd name="connsiteX3" fmla="*/ 301660 w 301660"/>
                  <a:gd name="connsiteY3" fmla="*/ 242213 h 484425"/>
                  <a:gd name="connsiteX4" fmla="*/ 150830 w 301660"/>
                  <a:gd name="connsiteY4" fmla="*/ 484425 h 484425"/>
                  <a:gd name="connsiteX5" fmla="*/ 150830 w 301660"/>
                  <a:gd name="connsiteY5" fmla="*/ 387540 h 484425"/>
                  <a:gd name="connsiteX6" fmla="*/ 0 w 301660"/>
                  <a:gd name="connsiteY6" fmla="*/ 387540 h 484425"/>
                  <a:gd name="connsiteX7" fmla="*/ 0 w 301660"/>
                  <a:gd name="connsiteY7" fmla="*/ 96885 h 48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1660" h="484425">
                    <a:moveTo>
                      <a:pt x="0" y="96885"/>
                    </a:moveTo>
                    <a:lnTo>
                      <a:pt x="150830" y="96885"/>
                    </a:lnTo>
                    <a:lnTo>
                      <a:pt x="150830" y="0"/>
                    </a:lnTo>
                    <a:lnTo>
                      <a:pt x="301660" y="242213"/>
                    </a:lnTo>
                    <a:lnTo>
                      <a:pt x="150830" y="484425"/>
                    </a:lnTo>
                    <a:lnTo>
                      <a:pt x="150830" y="387540"/>
                    </a:lnTo>
                    <a:lnTo>
                      <a:pt x="0" y="387540"/>
                    </a:lnTo>
                    <a:lnTo>
                      <a:pt x="0" y="96885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0" tIns="96884" rIns="90497" bIns="96885" numCol="1" spcCol="1270" anchor="ctr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000" kern="1200"/>
              </a:p>
            </p:txBody>
          </p:sp>
          <p:sp>
            <p:nvSpPr>
              <p:cNvPr id="29" name="Freeform 28"/>
              <p:cNvSpPr/>
              <p:nvPr/>
            </p:nvSpPr>
            <p:spPr>
              <a:xfrm>
                <a:off x="5383609" y="4710560"/>
                <a:ext cx="1424781" cy="1424781"/>
              </a:xfrm>
              <a:custGeom>
                <a:avLst/>
                <a:gdLst>
                  <a:gd name="connsiteX0" fmla="*/ 0 w 1424781"/>
                  <a:gd name="connsiteY0" fmla="*/ 712391 h 1424781"/>
                  <a:gd name="connsiteX1" fmla="*/ 712391 w 1424781"/>
                  <a:gd name="connsiteY1" fmla="*/ 0 h 1424781"/>
                  <a:gd name="connsiteX2" fmla="*/ 1424782 w 1424781"/>
                  <a:gd name="connsiteY2" fmla="*/ 712391 h 1424781"/>
                  <a:gd name="connsiteX3" fmla="*/ 712391 w 1424781"/>
                  <a:gd name="connsiteY3" fmla="*/ 1424782 h 1424781"/>
                  <a:gd name="connsiteX4" fmla="*/ 0 w 1424781"/>
                  <a:gd name="connsiteY4" fmla="*/ 712391 h 142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781" h="1424781">
                    <a:moveTo>
                      <a:pt x="0" y="712391"/>
                    </a:moveTo>
                    <a:cubicBezTo>
                      <a:pt x="0" y="318948"/>
                      <a:pt x="318948" y="0"/>
                      <a:pt x="712391" y="0"/>
                    </a:cubicBezTo>
                    <a:cubicBezTo>
                      <a:pt x="1105834" y="0"/>
                      <a:pt x="1424782" y="318948"/>
                      <a:pt x="1424782" y="712391"/>
                    </a:cubicBezTo>
                    <a:cubicBezTo>
                      <a:pt x="1424782" y="1105834"/>
                      <a:pt x="1105834" y="1424782"/>
                      <a:pt x="712391" y="1424782"/>
                    </a:cubicBezTo>
                    <a:cubicBezTo>
                      <a:pt x="318948" y="1424782"/>
                      <a:pt x="0" y="1105834"/>
                      <a:pt x="0" y="712391"/>
                    </a:cubicBez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9294" tIns="249294" rIns="249294" bIns="249294" numCol="1" spcCol="1270" anchor="ctr" anchorCtr="0">
                <a:noAutofit/>
              </a:bodyPr>
              <a:lstStyle/>
              <a:p>
                <a:pPr lvl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kern="1200"/>
              </a:p>
            </p:txBody>
          </p:sp>
          <p:sp>
            <p:nvSpPr>
              <p:cNvPr id="30" name="Freeform 29"/>
              <p:cNvSpPr/>
              <p:nvPr/>
            </p:nvSpPr>
            <p:spPr>
              <a:xfrm rot="21600000">
                <a:off x="4956731" y="3186785"/>
                <a:ext cx="301661" cy="484426"/>
              </a:xfrm>
              <a:custGeom>
                <a:avLst/>
                <a:gdLst>
                  <a:gd name="connsiteX0" fmla="*/ 0 w 301660"/>
                  <a:gd name="connsiteY0" fmla="*/ 96885 h 484425"/>
                  <a:gd name="connsiteX1" fmla="*/ 150830 w 301660"/>
                  <a:gd name="connsiteY1" fmla="*/ 96885 h 484425"/>
                  <a:gd name="connsiteX2" fmla="*/ 150830 w 301660"/>
                  <a:gd name="connsiteY2" fmla="*/ 0 h 484425"/>
                  <a:gd name="connsiteX3" fmla="*/ 301660 w 301660"/>
                  <a:gd name="connsiteY3" fmla="*/ 242213 h 484425"/>
                  <a:gd name="connsiteX4" fmla="*/ 150830 w 301660"/>
                  <a:gd name="connsiteY4" fmla="*/ 484425 h 484425"/>
                  <a:gd name="connsiteX5" fmla="*/ 150830 w 301660"/>
                  <a:gd name="connsiteY5" fmla="*/ 387540 h 484425"/>
                  <a:gd name="connsiteX6" fmla="*/ 0 w 301660"/>
                  <a:gd name="connsiteY6" fmla="*/ 387540 h 484425"/>
                  <a:gd name="connsiteX7" fmla="*/ 0 w 301660"/>
                  <a:gd name="connsiteY7" fmla="*/ 96885 h 484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01660" h="484425">
                    <a:moveTo>
                      <a:pt x="301660" y="387540"/>
                    </a:moveTo>
                    <a:lnTo>
                      <a:pt x="150830" y="387540"/>
                    </a:lnTo>
                    <a:lnTo>
                      <a:pt x="150830" y="484425"/>
                    </a:lnTo>
                    <a:lnTo>
                      <a:pt x="0" y="242212"/>
                    </a:lnTo>
                    <a:lnTo>
                      <a:pt x="150830" y="0"/>
                    </a:lnTo>
                    <a:lnTo>
                      <a:pt x="150830" y="96885"/>
                    </a:lnTo>
                    <a:lnTo>
                      <a:pt x="301660" y="96885"/>
                    </a:lnTo>
                    <a:lnTo>
                      <a:pt x="301660" y="387540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90498" tIns="96886" rIns="1" bIns="96885" numCol="1" spcCol="1270" anchor="ctr" anchorCtr="0">
                <a:noAutofit/>
              </a:bodyPr>
              <a:lstStyle/>
              <a:p>
                <a:pPr lvl="0" algn="ctr" defTabSz="8890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2000" kern="1200"/>
              </a:p>
            </p:txBody>
          </p:sp>
          <p:sp>
            <p:nvSpPr>
              <p:cNvPr id="31" name="Freeform 30"/>
              <p:cNvSpPr/>
              <p:nvPr/>
            </p:nvSpPr>
            <p:spPr>
              <a:xfrm>
                <a:off x="3389657" y="2716608"/>
                <a:ext cx="1424781" cy="1424781"/>
              </a:xfrm>
              <a:custGeom>
                <a:avLst/>
                <a:gdLst>
                  <a:gd name="connsiteX0" fmla="*/ 0 w 1424781"/>
                  <a:gd name="connsiteY0" fmla="*/ 712391 h 1424781"/>
                  <a:gd name="connsiteX1" fmla="*/ 712391 w 1424781"/>
                  <a:gd name="connsiteY1" fmla="*/ 0 h 1424781"/>
                  <a:gd name="connsiteX2" fmla="*/ 1424782 w 1424781"/>
                  <a:gd name="connsiteY2" fmla="*/ 712391 h 1424781"/>
                  <a:gd name="connsiteX3" fmla="*/ 712391 w 1424781"/>
                  <a:gd name="connsiteY3" fmla="*/ 1424782 h 1424781"/>
                  <a:gd name="connsiteX4" fmla="*/ 0 w 1424781"/>
                  <a:gd name="connsiteY4" fmla="*/ 712391 h 1424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781" h="1424781">
                    <a:moveTo>
                      <a:pt x="0" y="712391"/>
                    </a:moveTo>
                    <a:cubicBezTo>
                      <a:pt x="0" y="318948"/>
                      <a:pt x="318948" y="0"/>
                      <a:pt x="712391" y="0"/>
                    </a:cubicBezTo>
                    <a:cubicBezTo>
                      <a:pt x="1105834" y="0"/>
                      <a:pt x="1424782" y="318948"/>
                      <a:pt x="1424782" y="712391"/>
                    </a:cubicBezTo>
                    <a:cubicBezTo>
                      <a:pt x="1424782" y="1105834"/>
                      <a:pt x="1105834" y="1424782"/>
                      <a:pt x="712391" y="1424782"/>
                    </a:cubicBezTo>
                    <a:cubicBezTo>
                      <a:pt x="318948" y="1424782"/>
                      <a:pt x="0" y="1105834"/>
                      <a:pt x="0" y="712391"/>
                    </a:cubicBez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49294" tIns="249294" rIns="249294" bIns="249294" numCol="1" spcCol="1270" anchor="ctr" anchorCtr="0">
                <a:noAutofit/>
              </a:bodyPr>
              <a:lstStyle/>
              <a:p>
                <a:pPr lvl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200" kern="1200"/>
              </a:p>
            </p:txBody>
          </p:sp>
        </p:grpSp>
      </p:grpSp>
      <p:grpSp>
        <p:nvGrpSpPr>
          <p:cNvPr id="55" name="Group 54"/>
          <p:cNvGrpSpPr/>
          <p:nvPr/>
        </p:nvGrpSpPr>
        <p:grpSpPr>
          <a:xfrm>
            <a:off x="104870" y="4644455"/>
            <a:ext cx="1188720" cy="1188720"/>
            <a:chOff x="216168" y="4721728"/>
            <a:chExt cx="1188720" cy="1188720"/>
          </a:xfrm>
          <a:solidFill>
            <a:schemeClr val="accent1">
              <a:lumMod val="50000"/>
            </a:schemeClr>
          </a:solidFill>
        </p:grpSpPr>
        <p:sp>
          <p:nvSpPr>
            <p:cNvPr id="54" name="Oval 53"/>
            <p:cNvSpPr/>
            <p:nvPr/>
          </p:nvSpPr>
          <p:spPr>
            <a:xfrm>
              <a:off x="216168" y="4721728"/>
              <a:ext cx="1188720" cy="1188720"/>
            </a:xfrm>
            <a:prstGeom prst="ellipse">
              <a:avLst/>
            </a:prstGeom>
            <a:grp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368689" y="4833580"/>
              <a:ext cx="844094" cy="742972"/>
              <a:chOff x="3386666" y="719666"/>
              <a:chExt cx="5418667" cy="5418666"/>
            </a:xfrm>
            <a:grpFill/>
          </p:grpSpPr>
          <p:sp>
            <p:nvSpPr>
              <p:cNvPr id="50" name="Freeform 49"/>
              <p:cNvSpPr/>
              <p:nvPr/>
            </p:nvSpPr>
            <p:spPr>
              <a:xfrm>
                <a:off x="4741333" y="719666"/>
                <a:ext cx="2709333" cy="2709333"/>
              </a:xfrm>
              <a:custGeom>
                <a:avLst/>
                <a:gdLst>
                  <a:gd name="connsiteX0" fmla="*/ 0 w 2709333"/>
                  <a:gd name="connsiteY0" fmla="*/ 2709333 h 2709333"/>
                  <a:gd name="connsiteX1" fmla="*/ 1354667 w 2709333"/>
                  <a:gd name="connsiteY1" fmla="*/ 0 h 2709333"/>
                  <a:gd name="connsiteX2" fmla="*/ 2709333 w 2709333"/>
                  <a:gd name="connsiteY2" fmla="*/ 2709333 h 2709333"/>
                  <a:gd name="connsiteX3" fmla="*/ 0 w 2709333"/>
                  <a:gd name="connsiteY3" fmla="*/ 2709333 h 2709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09333" h="2709333">
                    <a:moveTo>
                      <a:pt x="0" y="2709333"/>
                    </a:moveTo>
                    <a:lnTo>
                      <a:pt x="1354667" y="0"/>
                    </a:lnTo>
                    <a:lnTo>
                      <a:pt x="27093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18303" tIns="1495637" rIns="818303" bIns="140970" numCol="1" spcCol="1270" anchor="ctr" anchorCtr="0">
                <a:noAutofit/>
              </a:bodyPr>
              <a:lstStyle/>
              <a:p>
                <a:pPr lvl="0" algn="ctr" defTabSz="1644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700" kern="1200">
                  <a:ln w="381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Freeform 50"/>
              <p:cNvSpPr/>
              <p:nvPr/>
            </p:nvSpPr>
            <p:spPr>
              <a:xfrm>
                <a:off x="3386666" y="3428999"/>
                <a:ext cx="2709333" cy="2709333"/>
              </a:xfrm>
              <a:custGeom>
                <a:avLst/>
                <a:gdLst>
                  <a:gd name="connsiteX0" fmla="*/ 0 w 2709333"/>
                  <a:gd name="connsiteY0" fmla="*/ 2709333 h 2709333"/>
                  <a:gd name="connsiteX1" fmla="*/ 1354667 w 2709333"/>
                  <a:gd name="connsiteY1" fmla="*/ 0 h 2709333"/>
                  <a:gd name="connsiteX2" fmla="*/ 2709333 w 2709333"/>
                  <a:gd name="connsiteY2" fmla="*/ 2709333 h 2709333"/>
                  <a:gd name="connsiteX3" fmla="*/ 0 w 2709333"/>
                  <a:gd name="connsiteY3" fmla="*/ 2709333 h 2709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09333" h="2709333">
                    <a:moveTo>
                      <a:pt x="0" y="2709333"/>
                    </a:moveTo>
                    <a:lnTo>
                      <a:pt x="1354667" y="0"/>
                    </a:lnTo>
                    <a:lnTo>
                      <a:pt x="27093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18303" tIns="1495637" rIns="818303" bIns="140970" numCol="1" spcCol="1270" anchor="ctr" anchorCtr="0">
                <a:noAutofit/>
              </a:bodyPr>
              <a:lstStyle/>
              <a:p>
                <a:pPr lvl="0" algn="ctr" defTabSz="1644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700" kern="1200">
                  <a:ln w="381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2" name="Freeform 51"/>
              <p:cNvSpPr/>
              <p:nvPr/>
            </p:nvSpPr>
            <p:spPr>
              <a:xfrm rot="21600000">
                <a:off x="4741333" y="3428998"/>
                <a:ext cx="2709333" cy="2709334"/>
              </a:xfrm>
              <a:custGeom>
                <a:avLst/>
                <a:gdLst>
                  <a:gd name="connsiteX0" fmla="*/ 0 w 2709333"/>
                  <a:gd name="connsiteY0" fmla="*/ 2709333 h 2709333"/>
                  <a:gd name="connsiteX1" fmla="*/ 1354667 w 2709333"/>
                  <a:gd name="connsiteY1" fmla="*/ 0 h 2709333"/>
                  <a:gd name="connsiteX2" fmla="*/ 2709333 w 2709333"/>
                  <a:gd name="connsiteY2" fmla="*/ 2709333 h 2709333"/>
                  <a:gd name="connsiteX3" fmla="*/ 0 w 2709333"/>
                  <a:gd name="connsiteY3" fmla="*/ 2709333 h 2709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09333" h="2709333">
                    <a:moveTo>
                      <a:pt x="2709333" y="0"/>
                    </a:moveTo>
                    <a:lnTo>
                      <a:pt x="1354666" y="2709333"/>
                    </a:lnTo>
                    <a:lnTo>
                      <a:pt x="0" y="0"/>
                    </a:lnTo>
                    <a:lnTo>
                      <a:pt x="2709333" y="0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18303" tIns="140971" rIns="818303" bIns="1495637" numCol="1" spcCol="1270" anchor="ctr" anchorCtr="0">
                <a:noAutofit/>
              </a:bodyPr>
              <a:lstStyle/>
              <a:p>
                <a:pPr lvl="0" algn="ctr" defTabSz="1644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700" kern="1200">
                  <a:ln w="3810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6096000" y="3428999"/>
                <a:ext cx="2709333" cy="2709333"/>
              </a:xfrm>
              <a:custGeom>
                <a:avLst/>
                <a:gdLst>
                  <a:gd name="connsiteX0" fmla="*/ 0 w 2709333"/>
                  <a:gd name="connsiteY0" fmla="*/ 2709333 h 2709333"/>
                  <a:gd name="connsiteX1" fmla="*/ 1354667 w 2709333"/>
                  <a:gd name="connsiteY1" fmla="*/ 0 h 2709333"/>
                  <a:gd name="connsiteX2" fmla="*/ 2709333 w 2709333"/>
                  <a:gd name="connsiteY2" fmla="*/ 2709333 h 2709333"/>
                  <a:gd name="connsiteX3" fmla="*/ 0 w 2709333"/>
                  <a:gd name="connsiteY3" fmla="*/ 2709333 h 2709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09333" h="2709333">
                    <a:moveTo>
                      <a:pt x="0" y="2709333"/>
                    </a:moveTo>
                    <a:lnTo>
                      <a:pt x="1354667" y="0"/>
                    </a:lnTo>
                    <a:lnTo>
                      <a:pt x="2709333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pFill/>
              <a:ln w="381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818303" tIns="1495637" rIns="818303" bIns="140970" numCol="1" spcCol="1270" anchor="ctr" anchorCtr="0">
                <a:noAutofit/>
              </a:bodyPr>
              <a:lstStyle/>
              <a:p>
                <a:pPr lvl="0" algn="ctr" defTabSz="1644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700" kern="1200">
                  <a:ln w="38100">
                    <a:solidFill>
                      <a:schemeClr val="tx1"/>
                    </a:solidFill>
                  </a:ln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16947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(KPIs)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Total Revenue generated was $817.86k</a:t>
            </a:r>
          </a:p>
          <a:p>
            <a:r>
              <a:rPr lang="en-US" dirty="0" smtClean="0"/>
              <a:t>Total orders placed was 21.35k</a:t>
            </a:r>
          </a:p>
          <a:p>
            <a:r>
              <a:rPr lang="en-US" dirty="0" smtClean="0"/>
              <a:t>Average order value is 10.70k</a:t>
            </a:r>
          </a:p>
          <a:p>
            <a:r>
              <a:rPr lang="en-US" dirty="0" smtClean="0"/>
              <a:t>Total pizza sold was 50k</a:t>
            </a:r>
          </a:p>
          <a:p>
            <a:r>
              <a:rPr lang="en-US" dirty="0" smtClean="0"/>
              <a:t>Total quantity of pizza sold per category is 49,574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8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Performance Metrics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4" y="1803399"/>
            <a:ext cx="8761413" cy="468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69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 and Seasonal Trend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4419" y="2287429"/>
            <a:ext cx="7497581" cy="44482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0913" y="3065172"/>
            <a:ext cx="40182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 dashboard gives a broad snapshot of order, revenue and unit-sold metrics.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922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421228"/>
            <a:ext cx="8825659" cy="359857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Category-wise distribution of pizza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 smtClean="0"/>
              <a:t>Chicken  11050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 smtClean="0"/>
              <a:t>Classic     14888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 smtClean="0"/>
              <a:t>Supreme  11987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 smtClean="0"/>
              <a:t>Veggie     11649</a:t>
            </a:r>
          </a:p>
          <a:p>
            <a:r>
              <a:rPr lang="en-US" dirty="0" smtClean="0"/>
              <a:t>The most expensive Pizza is the Greek Pizza</a:t>
            </a:r>
          </a:p>
          <a:p>
            <a:r>
              <a:rPr lang="en-US" dirty="0" smtClean="0"/>
              <a:t>The top 5 best selling pizza by number of orders are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 smtClean="0"/>
              <a:t>The </a:t>
            </a:r>
            <a:r>
              <a:rPr lang="en-US" dirty="0"/>
              <a:t>T</a:t>
            </a:r>
            <a:r>
              <a:rPr lang="en-US" dirty="0" smtClean="0"/>
              <a:t>hai chicken pizza</a:t>
            </a:r>
            <a:endParaRPr lang="en-US" dirty="0"/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The pepperoni pizza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The Hawaiian pizza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The barbecue chicken pizza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The classic deluxe pizza</a:t>
            </a:r>
          </a:p>
          <a:p>
            <a:pPr marL="400050" indent="-400050">
              <a:buFont typeface="+mj-lt"/>
              <a:buAutoNum type="romanUcPeriod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9414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Top 3 pizza per category based on sales are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 smtClean="0"/>
              <a:t>Chicken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 smtClean="0"/>
              <a:t>Supreme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 smtClean="0"/>
              <a:t>Classic</a:t>
            </a:r>
          </a:p>
          <a:p>
            <a:r>
              <a:rPr lang="en-US" dirty="0" smtClean="0"/>
              <a:t>Category sales percentage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488" y="3219718"/>
            <a:ext cx="4223905" cy="312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9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of Product Performance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4" y="2009105"/>
            <a:ext cx="8981298" cy="459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26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 for Growth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Promote the best selling pizza (Classic Pizza) – Highlight the top performing Pizza with eye-catchy signals, limited-time discount and </a:t>
            </a:r>
            <a:r>
              <a:rPr lang="en-US" dirty="0" err="1" smtClean="0"/>
              <a:t>stonger</a:t>
            </a:r>
            <a:r>
              <a:rPr lang="en-US" dirty="0" smtClean="0"/>
              <a:t> promotional efforts.</a:t>
            </a:r>
          </a:p>
          <a:p>
            <a:r>
              <a:rPr lang="en-US" dirty="0" smtClean="0"/>
              <a:t>Leverage data – Use sales dashboards to spot peak times, slow-moving items an adjust inventory and staffs appropriately.</a:t>
            </a:r>
          </a:p>
          <a:p>
            <a:r>
              <a:rPr lang="en-US" dirty="0" smtClean="0"/>
              <a:t>Launch loyalty offers – Reward points for each order to encouraging high orders and purchases.</a:t>
            </a:r>
          </a:p>
          <a:p>
            <a:r>
              <a:rPr lang="en-US" dirty="0" smtClean="0"/>
              <a:t>Expand deliveries location – Set up dedicated delivery teams for and critical operational periods.</a:t>
            </a:r>
          </a:p>
          <a:p>
            <a:r>
              <a:rPr lang="en-US" dirty="0" smtClean="0"/>
              <a:t>Boost profile and raise visibility – Raise awareness and heighten exposure to boost profile to  strengthen the brand’s image.</a:t>
            </a:r>
          </a:p>
          <a:p>
            <a:r>
              <a:rPr lang="en-US" dirty="0" smtClean="0"/>
              <a:t>Assign more staff to critical periods - Schedule </a:t>
            </a:r>
            <a:r>
              <a:rPr lang="en-US" dirty="0"/>
              <a:t>more staff to the peak period to boost efficiency and cut down on </a:t>
            </a:r>
            <a:r>
              <a:rPr lang="en-US" dirty="0" smtClean="0"/>
              <a:t>waiting.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55246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6">
              <a:lumMod val="50000"/>
            </a:schemeClr>
          </a:solidFill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44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496</TotalTime>
  <Words>390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Times New Roman</vt:lpstr>
      <vt:lpstr>Wingdings 3</vt:lpstr>
      <vt:lpstr>Ion Boardroom</vt:lpstr>
      <vt:lpstr>THE PERFECT PIE</vt:lpstr>
      <vt:lpstr>OVERVIEW</vt:lpstr>
      <vt:lpstr>Summary Presentation</vt:lpstr>
      <vt:lpstr>Performance Metrics (KPIs)</vt:lpstr>
      <vt:lpstr>Visualization of Performance Metrics</vt:lpstr>
      <vt:lpstr>Sales and Seasonal Trend</vt:lpstr>
      <vt:lpstr>Product Performance</vt:lpstr>
      <vt:lpstr>Product Performance contd</vt:lpstr>
      <vt:lpstr>Dashboard of Product Performance</vt:lpstr>
      <vt:lpstr>Recommendation for Growth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Summary Slides Presentation</dc:title>
  <dc:creator>ESTHER</dc:creator>
  <cp:lastModifiedBy>ESTHER</cp:lastModifiedBy>
  <cp:revision>37</cp:revision>
  <dcterms:created xsi:type="dcterms:W3CDTF">2025-12-06T21:22:38Z</dcterms:created>
  <dcterms:modified xsi:type="dcterms:W3CDTF">2025-12-10T18:27:27Z</dcterms:modified>
</cp:coreProperties>
</file>